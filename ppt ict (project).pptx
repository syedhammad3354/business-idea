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08" autoAdjust="0"/>
    <p:restoredTop sz="94660"/>
  </p:normalViewPr>
  <p:slideViewPr>
    <p:cSldViewPr snapToGrid="0" snapToObjects="1">
      <p:cViewPr varScale="1">
        <p:scale>
          <a:sx n="88" d="100"/>
          <a:sy n="88" d="100"/>
        </p:scale>
        <p:origin x="355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jp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62235">
                  <a:alpha val="95000"/>
                </a:srgbClr>
              </a:gs>
              <a:gs pos="100000">
                <a:srgbClr val="162235">
                  <a:alpha val="85000"/>
                </a:srgbClr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52956" y="1441676"/>
            <a:ext cx="685782" cy="35514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1980" y="2266950"/>
            <a:ext cx="10667733" cy="15239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5200"/>
              </a:lnSpc>
              <a:spcBef>
                <a:spcPts val="0"/>
              </a:spcBef>
              <a:spcAft>
                <a:spcPts val="1560"/>
              </a:spcAft>
            </a:pPr>
            <a:r>
              <a:rPr sz="3827" b="1">
                <a:solidFill>
                  <a:srgbClr val="FFFFFF"/>
                </a:solidFill>
                <a:latin typeface="Source Code Pro"/>
              </a:rPr>
              <a:t> Restaurant Billing System </a:t>
            </a:r>
            <a:r>
              <a:rPr sz="3827" b="1">
                <a:solidFill>
                  <a:srgbClr val="37DCF2"/>
                </a:solidFill>
                <a:latin typeface="Source Code Pro"/>
              </a:rPr>
              <a:t> in C++</a:t>
            </a:r>
            <a:r>
              <a:rPr sz="3827" b="1">
                <a:solidFill>
                  <a:srgbClr val="FFFFFF"/>
                </a:solidFill>
                <a:latin typeface="Source Code Pro"/>
              </a:rPr>
              <a:t>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80" y="4362450"/>
            <a:ext cx="10667733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FFFFFF"/>
                </a:solidFill>
                <a:latin typeface="Roboto Flex"/>
              </a:rPr>
              <a:t>A Simple Menu-Based Ordering Program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33846" y="5124449"/>
            <a:ext cx="1924001" cy="457200"/>
          </a:xfrm>
          <a:prstGeom prst="roundRect">
            <a:avLst>
              <a:gd name="adj" fmla="val 16666"/>
            </a:avLst>
          </a:prstGeom>
          <a:solidFill>
            <a:srgbClr val="37DCF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 Same Side Corner Rectangle 7"/>
          <p:cNvSpPr/>
          <p:nvPr/>
        </p:nvSpPr>
        <p:spPr>
          <a:xfrm rot="16200000">
            <a:off x="4954776" y="5303519"/>
            <a:ext cx="457200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2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584" y="114300"/>
            <a:ext cx="2743131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ource Code Pro"/>
              </a:rPr>
              <a:t>Introduction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9584" y="1487848"/>
            <a:ext cx="533386" cy="41520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584" y="2257425"/>
            <a:ext cx="4876678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1560"/>
              </a:spcAft>
            </a:pPr>
            <a:r>
              <a:rPr sz="1674" b="1">
                <a:solidFill>
                  <a:srgbClr val="FFFFFF"/>
                </a:solidFill>
                <a:latin typeface="Roboto Flex"/>
              </a:rPr>
              <a:t>Restaurant Ordering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584" y="2886075"/>
            <a:ext cx="4876678" cy="111442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2080"/>
              </a:spcAft>
            </a:pPr>
            <a:r>
              <a:rPr sz="1435" b="0">
                <a:solidFill>
                  <a:srgbClr val="D1D5DB"/>
                </a:solidFill>
                <a:latin typeface="Roboto Flex"/>
              </a:rPr>
              <a:t>A console-based application that enables users to order multiple items from a restaurant menu and automatically calculates the total bill.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584" y="4305300"/>
            <a:ext cx="4876678" cy="542925"/>
          </a:xfrm>
          <a:prstGeom prst="roundRect">
            <a:avLst>
              <a:gd name="adj" fmla="val 28070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387652" y="4527232"/>
            <a:ext cx="542925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8654" y="4458942"/>
            <a:ext cx="266693" cy="22611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247743" y="4419600"/>
            <a:ext cx="2038299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E5E7EB"/>
                </a:solidFill>
                <a:latin typeface="Roboto Flex"/>
              </a:rPr>
              <a:t>Menu-driven interface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584" y="5000625"/>
            <a:ext cx="4876678" cy="542925"/>
          </a:xfrm>
          <a:prstGeom prst="roundRect">
            <a:avLst>
              <a:gd name="adj" fmla="val 28070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 Same Side Corner Rectangle 10"/>
          <p:cNvSpPr/>
          <p:nvPr/>
        </p:nvSpPr>
        <p:spPr>
          <a:xfrm rot="16200000">
            <a:off x="387652" y="5222557"/>
            <a:ext cx="542925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8654" y="5172489"/>
            <a:ext cx="266693" cy="20872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247743" y="5114925"/>
            <a:ext cx="2485962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E5E7EB"/>
                </a:solidFill>
                <a:latin typeface="Roboto Flex"/>
              </a:rPr>
              <a:t>Automatic total calculation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584" y="5695949"/>
            <a:ext cx="4876678" cy="542925"/>
          </a:xfrm>
          <a:prstGeom prst="roundRect">
            <a:avLst>
              <a:gd name="adj" fmla="val 28070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 Same Side Corner Rectangle 14"/>
          <p:cNvSpPr/>
          <p:nvPr/>
        </p:nvSpPr>
        <p:spPr>
          <a:xfrm rot="16200000">
            <a:off x="387652" y="5917881"/>
            <a:ext cx="542925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8654" y="5849592"/>
            <a:ext cx="266693" cy="22611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247743" y="5810249"/>
            <a:ext cx="2104972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E5E7EB"/>
                </a:solidFill>
                <a:latin typeface="Roboto Flex"/>
              </a:rPr>
              <a:t>Multiple item selection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57788" y="1447800"/>
            <a:ext cx="4762380" cy="4762500"/>
          </a:xfrm>
          <a:prstGeom prst="roundRect">
            <a:avLst/>
          </a:prstGeom>
          <a:blipFill>
            <a:blip r:embed="rId6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905752" y="5905500"/>
            <a:ext cx="1466813" cy="4572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Source Code Pro"/>
              </a:rPr>
              <a:t>C++ Program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10188" y="1600200"/>
            <a:ext cx="4762380" cy="4762500"/>
          </a:xfrm>
          <a:prstGeom prst="roundRect">
            <a:avLst/>
          </a:prstGeom>
          <a:blipFill>
            <a:blip r:embed="rId6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2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584" y="114300"/>
            <a:ext cx="3657508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ource Code Pro"/>
              </a:rPr>
              <a:t>Program Features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9584" y="1390650"/>
            <a:ext cx="5257668" cy="1209674"/>
          </a:xfrm>
          <a:prstGeom prst="roundRect">
            <a:avLst>
              <a:gd name="adj" fmla="val 18897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92279" y="1714500"/>
            <a:ext cx="406135" cy="4952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71585" y="1628775"/>
            <a:ext cx="2828854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520"/>
              </a:spcAft>
            </a:pPr>
            <a:r>
              <a:rPr sz="1554" b="1">
                <a:solidFill>
                  <a:srgbClr val="FFFFFF"/>
                </a:solidFill>
                <a:latin typeface="Roboto Flex"/>
              </a:rPr>
              <a:t>User-Friendly Interface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71585" y="2076449"/>
            <a:ext cx="2828854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9CA3AF"/>
                </a:solidFill>
                <a:latin typeface="Roboto Flex"/>
              </a:rPr>
              <a:t>Simple console-based interaction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24441" y="1390650"/>
            <a:ext cx="5257668" cy="1209674"/>
          </a:xfrm>
          <a:prstGeom prst="roundRect">
            <a:avLst>
              <a:gd name="adj" fmla="val 18897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62560" y="1753761"/>
            <a:ext cx="495287" cy="41677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286442" y="1628775"/>
            <a:ext cx="2590735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520"/>
              </a:spcAft>
            </a:pPr>
            <a:r>
              <a:rPr sz="1554" b="1">
                <a:solidFill>
                  <a:srgbClr val="FFFFFF"/>
                </a:solidFill>
                <a:latin typeface="Roboto Flex"/>
              </a:rPr>
              <a:t>Multiple Menu Options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86442" y="2076449"/>
            <a:ext cx="2590735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9CA3AF"/>
                </a:solidFill>
                <a:latin typeface="Roboto Flex"/>
              </a:rPr>
              <a:t>8 items available for selection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584" y="2905124"/>
            <a:ext cx="5257668" cy="1209674"/>
          </a:xfrm>
          <a:prstGeom prst="roundRect">
            <a:avLst>
              <a:gd name="adj" fmla="val 18897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7703" y="3286357"/>
            <a:ext cx="495287" cy="38053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571585" y="3143250"/>
            <a:ext cx="2533586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520"/>
              </a:spcAft>
            </a:pPr>
            <a:r>
              <a:rPr sz="1554" b="1">
                <a:solidFill>
                  <a:srgbClr val="FFFFFF"/>
                </a:solidFill>
                <a:latin typeface="Roboto Flex"/>
              </a:rPr>
              <a:t>Automatic Calculation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71585" y="3590924"/>
            <a:ext cx="2533586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9CA3AF"/>
                </a:solidFill>
                <a:latin typeface="Roboto Flex"/>
              </a:rPr>
              <a:t>Instant total bill computation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24441" y="2905124"/>
            <a:ext cx="5257668" cy="1209674"/>
          </a:xfrm>
          <a:prstGeom prst="roundRect">
            <a:avLst>
              <a:gd name="adj" fmla="val 18897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62560" y="3256156"/>
            <a:ext cx="495287" cy="44093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286442" y="3143250"/>
            <a:ext cx="2371665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520"/>
              </a:spcAft>
            </a:pPr>
            <a:r>
              <a:rPr sz="1554" b="1">
                <a:solidFill>
                  <a:srgbClr val="FFFFFF"/>
                </a:solidFill>
                <a:latin typeface="Roboto Flex"/>
              </a:rPr>
              <a:t>Item Validation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86442" y="3590924"/>
            <a:ext cx="2371665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9CA3AF"/>
                </a:solidFill>
                <a:latin typeface="Roboto Flex"/>
              </a:rPr>
              <a:t>Checks for valid menu items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9584" y="4419600"/>
            <a:ext cx="10972525" cy="1209674"/>
          </a:xfrm>
          <a:prstGeom prst="roundRect">
            <a:avLst>
              <a:gd name="adj" fmla="val 18897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7703" y="4782711"/>
            <a:ext cx="495287" cy="41677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571585" y="4657725"/>
            <a:ext cx="5057648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520"/>
              </a:spcAft>
            </a:pPr>
            <a:r>
              <a:rPr sz="1554" b="1">
                <a:solidFill>
                  <a:srgbClr val="FFFFFF"/>
                </a:solidFill>
                <a:latin typeface="Roboto Flex"/>
              </a:rPr>
              <a:t>Clear Bill Display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71585" y="5105400"/>
            <a:ext cx="5057648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9CA3AF"/>
                </a:solidFill>
                <a:latin typeface="Roboto Flex"/>
              </a:rPr>
              <a:t>Shows total amount in Rupees with item-by-item breakdown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09964" y="6172200"/>
            <a:ext cx="609584" cy="19050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172145" y="6172200"/>
            <a:ext cx="609584" cy="19050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2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584" y="114300"/>
            <a:ext cx="4343291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ource Code Pro"/>
              </a:rPr>
              <a:t>Menu Items &amp; Prices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9584" y="1752599"/>
            <a:ext cx="5371965" cy="866775"/>
          </a:xfrm>
          <a:prstGeom prst="roundRect">
            <a:avLst>
              <a:gd name="adj" fmla="val 26373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 Same Side Corner Rectangle 3"/>
          <p:cNvSpPr/>
          <p:nvPr/>
        </p:nvSpPr>
        <p:spPr>
          <a:xfrm rot="16200000">
            <a:off x="242237" y="2119946"/>
            <a:ext cx="8667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38179" y="1962149"/>
            <a:ext cx="361940" cy="4572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1913" b="1">
                <a:solidFill>
                  <a:srgbClr val="37DCF2"/>
                </a:solidFill>
                <a:latin typeface="Source Code Pro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90615" y="2019299"/>
            <a:ext cx="2304992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Roboto Flex"/>
              </a:rPr>
              <a:t>Anda + Paratha + Chai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90935" y="1943100"/>
            <a:ext cx="1200119" cy="485775"/>
          </a:xfrm>
          <a:prstGeom prst="roundRect">
            <a:avLst>
              <a:gd name="adj" fmla="val 31372"/>
            </a:avLst>
          </a:prstGeom>
          <a:solidFill>
            <a:srgbClr val="37DCF2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43331" y="2038349"/>
            <a:ext cx="895327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554" b="1">
                <a:solidFill>
                  <a:srgbClr val="37DCF2"/>
                </a:solidFill>
                <a:latin typeface="Source Code Pro"/>
              </a:rPr>
              <a:t>300 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0144" y="1752599"/>
            <a:ext cx="5371965" cy="866775"/>
          </a:xfrm>
          <a:prstGeom prst="roundRect">
            <a:avLst>
              <a:gd name="adj" fmla="val 26373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 Same Side Corner Rectangle 9"/>
          <p:cNvSpPr/>
          <p:nvPr/>
        </p:nvSpPr>
        <p:spPr>
          <a:xfrm rot="16200000">
            <a:off x="5842797" y="2119946"/>
            <a:ext cx="8667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38739" y="1962149"/>
            <a:ext cx="361940" cy="4572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1913" b="1">
                <a:solidFill>
                  <a:srgbClr val="37DCF2"/>
                </a:solidFill>
                <a:latin typeface="Source Code Pro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1175" y="2019299"/>
            <a:ext cx="2438339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Roboto Flex"/>
              </a:rPr>
              <a:t>Chana + Paratha + Chai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191495" y="1943100"/>
            <a:ext cx="1200119" cy="485775"/>
          </a:xfrm>
          <a:prstGeom prst="roundRect">
            <a:avLst>
              <a:gd name="adj" fmla="val 31372"/>
            </a:avLst>
          </a:prstGeom>
          <a:solidFill>
            <a:srgbClr val="37DCF2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343891" y="2038349"/>
            <a:ext cx="895327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554" b="1">
                <a:solidFill>
                  <a:srgbClr val="37DCF2"/>
                </a:solidFill>
                <a:latin typeface="Source Code Pro"/>
              </a:rPr>
              <a:t>350 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9584" y="2857500"/>
            <a:ext cx="5371965" cy="866775"/>
          </a:xfrm>
          <a:prstGeom prst="roundRect">
            <a:avLst>
              <a:gd name="adj" fmla="val 26373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 Same Side Corner Rectangle 15"/>
          <p:cNvSpPr/>
          <p:nvPr/>
        </p:nvSpPr>
        <p:spPr>
          <a:xfrm rot="16200000">
            <a:off x="242237" y="3224847"/>
            <a:ext cx="8667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8179" y="3057525"/>
            <a:ext cx="361940" cy="4572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1913" b="1">
                <a:solidFill>
                  <a:srgbClr val="37DCF2"/>
                </a:solidFill>
                <a:latin typeface="Source Code Pro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90615" y="3114675"/>
            <a:ext cx="476238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Roboto Flex"/>
              </a:rPr>
              <a:t>Chai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43331" y="3047999"/>
            <a:ext cx="1047723" cy="485775"/>
          </a:xfrm>
          <a:prstGeom prst="roundRect">
            <a:avLst>
              <a:gd name="adj" fmla="val 31372"/>
            </a:avLst>
          </a:prstGeom>
          <a:solidFill>
            <a:srgbClr val="37DCF2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895727" y="3124200"/>
            <a:ext cx="742931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554" b="1">
                <a:solidFill>
                  <a:srgbClr val="37DCF2"/>
                </a:solidFill>
                <a:latin typeface="Source Code Pro"/>
              </a:rPr>
              <a:t>80 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0144" y="2857500"/>
            <a:ext cx="5371965" cy="866775"/>
          </a:xfrm>
          <a:prstGeom prst="roundRect">
            <a:avLst>
              <a:gd name="adj" fmla="val 26373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5842797" y="3224847"/>
            <a:ext cx="8667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38739" y="3057525"/>
            <a:ext cx="361940" cy="4572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1913" b="1">
                <a:solidFill>
                  <a:srgbClr val="37DCF2"/>
                </a:solidFill>
                <a:latin typeface="Source Code Pro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1175" y="3114675"/>
            <a:ext cx="1200119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Roboto Flex"/>
              </a:rPr>
              <a:t>Beef Karahi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48623" y="3047999"/>
            <a:ext cx="1342991" cy="485775"/>
          </a:xfrm>
          <a:prstGeom prst="roundRect">
            <a:avLst>
              <a:gd name="adj" fmla="val 31372"/>
            </a:avLst>
          </a:prstGeom>
          <a:solidFill>
            <a:srgbClr val="37DCF2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201019" y="3124200"/>
            <a:ext cx="1038199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554" b="1">
                <a:solidFill>
                  <a:srgbClr val="37DCF2"/>
                </a:solidFill>
                <a:latin typeface="Source Code Pro"/>
              </a:rPr>
              <a:t>1800 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9584" y="3943350"/>
            <a:ext cx="5371965" cy="866775"/>
          </a:xfrm>
          <a:prstGeom prst="roundRect">
            <a:avLst>
              <a:gd name="adj" fmla="val 26373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 Same Side Corner Rectangle 27"/>
          <p:cNvSpPr/>
          <p:nvPr/>
        </p:nvSpPr>
        <p:spPr>
          <a:xfrm rot="16200000">
            <a:off x="242237" y="4310697"/>
            <a:ext cx="8667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8179" y="4152899"/>
            <a:ext cx="361940" cy="4572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1913" b="1">
                <a:solidFill>
                  <a:srgbClr val="37DCF2"/>
                </a:solidFill>
                <a:latin typeface="Source Code Pro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90615" y="4210049"/>
            <a:ext cx="1581110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Roboto Flex"/>
              </a:rPr>
              <a:t>Chicken Karahi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48063" y="4133849"/>
            <a:ext cx="1342991" cy="485775"/>
          </a:xfrm>
          <a:prstGeom prst="roundRect">
            <a:avLst>
              <a:gd name="adj" fmla="val 31372"/>
            </a:avLst>
          </a:prstGeom>
          <a:solidFill>
            <a:srgbClr val="37DCF2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600459" y="4229100"/>
            <a:ext cx="1038199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554" b="1">
                <a:solidFill>
                  <a:srgbClr val="37DCF2"/>
                </a:solidFill>
                <a:latin typeface="Source Code Pro"/>
              </a:rPr>
              <a:t>1200 Rs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0144" y="3943350"/>
            <a:ext cx="5371965" cy="866775"/>
          </a:xfrm>
          <a:prstGeom prst="roundRect">
            <a:avLst>
              <a:gd name="adj" fmla="val 26373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 Same Side Corner Rectangle 33"/>
          <p:cNvSpPr/>
          <p:nvPr/>
        </p:nvSpPr>
        <p:spPr>
          <a:xfrm rot="16200000">
            <a:off x="5842797" y="4310697"/>
            <a:ext cx="8667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38739" y="4152899"/>
            <a:ext cx="361940" cy="4572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1913" b="1">
                <a:solidFill>
                  <a:srgbClr val="37DCF2"/>
                </a:solidFill>
                <a:latin typeface="Source Code Pro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91175" y="4210049"/>
            <a:ext cx="1095347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Roboto Flex"/>
              </a:rPr>
              <a:t>Cold Drink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343891" y="4133849"/>
            <a:ext cx="1047723" cy="485775"/>
          </a:xfrm>
          <a:prstGeom prst="roundRect">
            <a:avLst>
              <a:gd name="adj" fmla="val 31372"/>
            </a:avLst>
          </a:prstGeom>
          <a:solidFill>
            <a:srgbClr val="37DCF2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496287" y="4229100"/>
            <a:ext cx="742931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554" b="1">
                <a:solidFill>
                  <a:srgbClr val="37DCF2"/>
                </a:solidFill>
                <a:latin typeface="Source Code Pro"/>
              </a:rPr>
              <a:t>80 Rs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09584" y="5048250"/>
            <a:ext cx="5371965" cy="866775"/>
          </a:xfrm>
          <a:prstGeom prst="roundRect">
            <a:avLst>
              <a:gd name="adj" fmla="val 26373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 Same Side Corner Rectangle 39"/>
          <p:cNvSpPr/>
          <p:nvPr/>
        </p:nvSpPr>
        <p:spPr>
          <a:xfrm rot="16200000">
            <a:off x="242237" y="5415597"/>
            <a:ext cx="8667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38179" y="5248275"/>
            <a:ext cx="361940" cy="4572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1913" b="1">
                <a:solidFill>
                  <a:srgbClr val="37DCF2"/>
                </a:solidFill>
                <a:latin typeface="Source Code Pro"/>
              </a:rPr>
              <a:t>07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90615" y="5305425"/>
            <a:ext cx="419089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Roboto Flex"/>
              </a:rPr>
              <a:t>Roti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743331" y="5238749"/>
            <a:ext cx="1047723" cy="485775"/>
          </a:xfrm>
          <a:prstGeom prst="roundRect">
            <a:avLst>
              <a:gd name="adj" fmla="val 31372"/>
            </a:avLst>
          </a:prstGeom>
          <a:solidFill>
            <a:srgbClr val="37DCF2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895727" y="5314950"/>
            <a:ext cx="742931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554" b="1">
                <a:solidFill>
                  <a:srgbClr val="37DCF2"/>
                </a:solidFill>
                <a:latin typeface="Source Code Pro"/>
              </a:rPr>
              <a:t>10 Rs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10144" y="5048250"/>
            <a:ext cx="5371965" cy="866775"/>
          </a:xfrm>
          <a:prstGeom prst="roundRect">
            <a:avLst>
              <a:gd name="adj" fmla="val 26373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 Same Side Corner Rectangle 45"/>
          <p:cNvSpPr/>
          <p:nvPr/>
        </p:nvSpPr>
        <p:spPr>
          <a:xfrm rot="16200000">
            <a:off x="5842797" y="5415597"/>
            <a:ext cx="8667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438739" y="5248275"/>
            <a:ext cx="361940" cy="4572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1913" b="1">
                <a:solidFill>
                  <a:srgbClr val="37DCF2"/>
                </a:solidFill>
                <a:latin typeface="Source Code Pro"/>
              </a:rPr>
              <a:t>08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91175" y="5305425"/>
            <a:ext cx="561960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Roboto Flex"/>
              </a:rPr>
              <a:t>Naan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343891" y="5238749"/>
            <a:ext cx="1047723" cy="485775"/>
          </a:xfrm>
          <a:prstGeom prst="roundRect">
            <a:avLst>
              <a:gd name="adj" fmla="val 31372"/>
            </a:avLst>
          </a:prstGeom>
          <a:solidFill>
            <a:srgbClr val="37DCF2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0496287" y="5314950"/>
            <a:ext cx="742931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554" b="1">
                <a:solidFill>
                  <a:srgbClr val="37DCF2"/>
                </a:solidFill>
                <a:latin typeface="Source Code Pro"/>
              </a:rPr>
              <a:t>20 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2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584" y="114300"/>
            <a:ext cx="3200319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ource Code Pro"/>
              </a:rPr>
              <a:t>Code Structure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9584" y="1104900"/>
            <a:ext cx="6248243" cy="1438274"/>
          </a:xfrm>
          <a:prstGeom prst="roundRect">
            <a:avLst>
              <a:gd name="adj" fmla="val 10596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 Same Side Corner Rectangle 3"/>
          <p:cNvSpPr/>
          <p:nvPr/>
        </p:nvSpPr>
        <p:spPr>
          <a:xfrm rot="16200000">
            <a:off x="-43513" y="1757997"/>
            <a:ext cx="14382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8179" y="1367936"/>
            <a:ext cx="304792" cy="21687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95367" y="1295399"/>
            <a:ext cx="1066773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554" b="1">
                <a:solidFill>
                  <a:srgbClr val="FFFFFF"/>
                </a:solidFill>
                <a:latin typeface="Roboto Flex"/>
              </a:rPr>
              <a:t>Variables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5367" y="1771650"/>
            <a:ext cx="5371965" cy="5715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9CA3AF"/>
                </a:solidFill>
                <a:latin typeface="Roboto Flex"/>
              </a:rPr>
              <a:t> </a:t>
            </a:r>
            <a:r>
              <a:rPr sz="1196" b="0">
                <a:solidFill>
                  <a:srgbClr val="37DCF2"/>
                </a:solidFill>
                <a:latin typeface="Roboto Flex"/>
              </a:rPr>
              <a:t>int n, item, total;</a:t>
            </a:r>
            <a:r>
              <a:rPr sz="1196" b="0">
                <a:solidFill>
                  <a:srgbClr val="9CA3AF"/>
                </a:solidFill>
                <a:latin typeface="Roboto Flex"/>
              </a:rPr>
              <a:t> — Stores order count, selected item, and bill total 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584" y="2724150"/>
            <a:ext cx="6248243" cy="1152524"/>
          </a:xfrm>
          <a:prstGeom prst="roundRect">
            <a:avLst>
              <a:gd name="adj" fmla="val 13223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99362" y="3234372"/>
            <a:ext cx="115252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179" y="2987919"/>
            <a:ext cx="304792" cy="23446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295367" y="2914650"/>
            <a:ext cx="2762180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554" b="1">
                <a:solidFill>
                  <a:srgbClr val="FFFFFF"/>
                </a:solidFill>
                <a:latin typeface="Roboto Flex"/>
              </a:rPr>
              <a:t>Input/Output Operations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5367" y="3409950"/>
            <a:ext cx="5371965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9CA3AF"/>
                </a:solidFill>
                <a:latin typeface="Roboto Flex"/>
              </a:rPr>
              <a:t> </a:t>
            </a:r>
            <a:r>
              <a:rPr sz="1196" b="0">
                <a:solidFill>
                  <a:srgbClr val="37DCF2"/>
                </a:solidFill>
                <a:latin typeface="Roboto Flex"/>
              </a:rPr>
              <a:t>cout</a:t>
            </a:r>
            <a:r>
              <a:rPr sz="1196" b="0">
                <a:solidFill>
                  <a:srgbClr val="9CA3AF"/>
                </a:solidFill>
                <a:latin typeface="Roboto Flex"/>
              </a:rPr>
              <a:t> and </a:t>
            </a:r>
            <a:r>
              <a:rPr sz="1196" b="0">
                <a:solidFill>
                  <a:srgbClr val="37DCF2"/>
                </a:solidFill>
                <a:latin typeface="Roboto Flex"/>
              </a:rPr>
              <a:t>cin</a:t>
            </a:r>
            <a:r>
              <a:rPr sz="1196" b="0">
                <a:solidFill>
                  <a:srgbClr val="9CA3AF"/>
                </a:solidFill>
                <a:latin typeface="Roboto Flex"/>
              </a:rPr>
              <a:t> — Displays menu and accepts user input 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584" y="4076699"/>
            <a:ext cx="6248243" cy="1152524"/>
          </a:xfrm>
          <a:prstGeom prst="roundRect">
            <a:avLst>
              <a:gd name="adj" fmla="val 13223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 Same Side Corner Rectangle 13"/>
          <p:cNvSpPr/>
          <p:nvPr/>
        </p:nvSpPr>
        <p:spPr>
          <a:xfrm rot="16200000">
            <a:off x="99362" y="4586921"/>
            <a:ext cx="115252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8179" y="4304567"/>
            <a:ext cx="304792" cy="28721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95367" y="4267199"/>
            <a:ext cx="2114497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554" b="1">
                <a:solidFill>
                  <a:srgbClr val="FFFFFF"/>
                </a:solidFill>
                <a:latin typeface="Roboto Flex"/>
              </a:rPr>
              <a:t>For Loop Structure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5367" y="4743450"/>
            <a:ext cx="5371965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9CA3AF"/>
                </a:solidFill>
                <a:latin typeface="Roboto Flex"/>
              </a:rPr>
              <a:t> </a:t>
            </a:r>
            <a:r>
              <a:rPr sz="1196" b="0">
                <a:solidFill>
                  <a:srgbClr val="37DCF2"/>
                </a:solidFill>
                <a:latin typeface="Roboto Flex"/>
              </a:rPr>
              <a:t>for (int i = 1; i &lt;= n; i++)</a:t>
            </a:r>
            <a:r>
              <a:rPr sz="1196" b="0">
                <a:solidFill>
                  <a:srgbClr val="9CA3AF"/>
                </a:solidFill>
                <a:latin typeface="Roboto Flex"/>
              </a:rPr>
              <a:t> — Iterates through each item selection 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9584" y="5410199"/>
            <a:ext cx="6248243" cy="1152524"/>
          </a:xfrm>
          <a:prstGeom prst="roundRect">
            <a:avLst>
              <a:gd name="adj" fmla="val 13223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 Same Side Corner Rectangle 18"/>
          <p:cNvSpPr/>
          <p:nvPr/>
        </p:nvSpPr>
        <p:spPr>
          <a:xfrm rot="16200000">
            <a:off x="99362" y="5920421"/>
            <a:ext cx="115252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8179" y="5673969"/>
            <a:ext cx="304792" cy="23446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295367" y="5600700"/>
            <a:ext cx="1562060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554" b="1">
                <a:solidFill>
                  <a:srgbClr val="FFFFFF"/>
                </a:solidFill>
                <a:latin typeface="Roboto Flex"/>
              </a:rPr>
              <a:t>If-Else Ladder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5367" y="6095999"/>
            <a:ext cx="5371965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9CA3AF"/>
                </a:solidFill>
                <a:latin typeface="Roboto Flex"/>
              </a:rPr>
              <a:t>Validates item numbers and adds corresponding prices to total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017" y="1352549"/>
            <a:ext cx="4267093" cy="4952999"/>
          </a:xfrm>
          <a:prstGeom prst="roundRect">
            <a:avLst/>
          </a:prstGeom>
          <a:blipFill>
            <a:blip r:embed="rId6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315017" y="5695949"/>
            <a:ext cx="4267093" cy="6096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162235"/>
              </a:gs>
              <a:gs pos="100000">
                <a:srgbClr val="000000">
                  <a:alpha val="0"/>
                </a:srgbClr>
              </a:gs>
            </a:gsLst>
            <a:lin ang="162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639159" y="1619250"/>
            <a:ext cx="638159" cy="1714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DCF2"/>
                </a:solidFill>
                <a:latin typeface="Source Code Pro"/>
              </a:rPr>
              <a:t>C++ Code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2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584" y="114300"/>
            <a:ext cx="3886102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ource Code Pro"/>
              </a:rPr>
              <a:t>Key Code Snippets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9584" y="814387"/>
            <a:ext cx="266693" cy="2000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90575" y="761999"/>
            <a:ext cx="1304892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  <a:latin typeface="Roboto Flex"/>
              </a:rPr>
              <a:t>Menu Display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584" y="1152524"/>
            <a:ext cx="10972525" cy="1438274"/>
          </a:xfrm>
          <a:prstGeom prst="roundRect">
            <a:avLst>
              <a:gd name="adj" fmla="val 10596"/>
            </a:avLst>
          </a:prstGeom>
          <a:solidFill>
            <a:srgbClr val="000000">
              <a:alpha val="40000"/>
            </a:srgbClr>
          </a:solidFill>
          <a:ln w="33020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584" y="2809046"/>
            <a:ext cx="266693" cy="24930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90575" y="2781300"/>
            <a:ext cx="2428814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  <a:latin typeface="Roboto Flex"/>
              </a:rPr>
              <a:t>For Loop Implementation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584" y="3171825"/>
            <a:ext cx="10972525" cy="1714500"/>
          </a:xfrm>
          <a:prstGeom prst="roundRect">
            <a:avLst>
              <a:gd name="adj" fmla="val 8888"/>
            </a:avLst>
          </a:prstGeom>
          <a:solidFill>
            <a:srgbClr val="000000">
              <a:alpha val="40000"/>
            </a:srgbClr>
          </a:solidFill>
          <a:ln w="33020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9584" y="5134389"/>
            <a:ext cx="266693" cy="20872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90575" y="5076825"/>
            <a:ext cx="2285942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  <a:latin typeface="Roboto Flex"/>
              </a:rPr>
              <a:t>If-Else Price Calculation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584" y="5467349"/>
            <a:ext cx="10972525" cy="1438274"/>
          </a:xfrm>
          <a:prstGeom prst="roundRect">
            <a:avLst>
              <a:gd name="adj" fmla="val 10596"/>
            </a:avLst>
          </a:prstGeom>
          <a:solidFill>
            <a:srgbClr val="000000">
              <a:alpha val="40000"/>
            </a:srgbClr>
          </a:solidFill>
          <a:ln w="33020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4"/>
          <p:cNvSpPr>
            <a:spLocks noChangeArrowheads="1"/>
          </p:cNvSpPr>
          <p:nvPr/>
        </p:nvSpPr>
        <p:spPr bwMode="auto">
          <a:xfrm>
            <a:off x="876277" y="1394399"/>
            <a:ext cx="4739663" cy="800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FF79C6"/>
                </a:solidFill>
                <a:effectLst/>
                <a:latin typeface="ui-monospace"/>
              </a:rPr>
              <a:t>cout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ui-monospace"/>
              </a:rPr>
              <a:t> 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FF79C6"/>
                </a:solidFill>
                <a:effectLst/>
                <a:latin typeface="ui-monospace"/>
              </a:rPr>
              <a:t>&lt;&lt;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ui-monospace"/>
              </a:rPr>
              <a:t> 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F1FA8C"/>
                </a:solidFill>
                <a:effectLst/>
                <a:latin typeface="ui-monospace"/>
              </a:rPr>
              <a:t>"Menu"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ui-monospace"/>
              </a:rPr>
              <a:t> 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FF79C6"/>
                </a:solidFill>
                <a:effectLst/>
                <a:latin typeface="ui-monospace"/>
              </a:rPr>
              <a:t>&lt;&lt;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ui-monospace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7030A0"/>
                </a:solidFill>
                <a:effectLst/>
                <a:latin typeface="ui-monospace"/>
              </a:rPr>
              <a:t>endl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7030A0"/>
                </a:solidFill>
                <a:effectLst/>
                <a:latin typeface="ui-monospace"/>
              </a:rPr>
              <a:t>;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ui-monospace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FF79C6"/>
                </a:solidFill>
                <a:effectLst/>
                <a:latin typeface="ui-monospace"/>
              </a:rPr>
              <a:t>cout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ui-monospace"/>
              </a:rPr>
              <a:t> 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FF79C6"/>
                </a:solidFill>
                <a:effectLst/>
                <a:latin typeface="ui-monospace"/>
              </a:rPr>
              <a:t>&lt;&lt;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ui-monospace"/>
              </a:rPr>
              <a:t> 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F1FA8C"/>
                </a:solidFill>
                <a:effectLst/>
                <a:latin typeface="ui-monospace"/>
              </a:rPr>
              <a:t>"1: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F1FA8C"/>
                </a:solidFill>
                <a:effectLst/>
                <a:latin typeface="ui-monospace"/>
              </a:rPr>
              <a:t>Anda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F1FA8C"/>
                </a:solidFill>
                <a:effectLst/>
                <a:latin typeface="ui-monospace"/>
              </a:rPr>
              <a:t> + Paratha + Chai (300)"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ui-monospace"/>
              </a:rPr>
              <a:t> 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FF79C6"/>
                </a:solidFill>
                <a:effectLst/>
                <a:latin typeface="ui-monospace"/>
              </a:rPr>
              <a:t>&lt;&lt;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ui-monospace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7030A0"/>
                </a:solidFill>
                <a:effectLst/>
                <a:latin typeface="ui-monospace"/>
              </a:rPr>
              <a:t>endl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7030A0"/>
                </a:solidFill>
                <a:effectLst/>
                <a:latin typeface="ui-monospace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FF79C6"/>
                </a:solidFill>
                <a:effectLst/>
                <a:latin typeface="ui-monospace"/>
              </a:rPr>
              <a:t>cout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ui-monospace"/>
              </a:rPr>
              <a:t> 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FF79C6"/>
                </a:solidFill>
                <a:effectLst/>
                <a:latin typeface="ui-monospace"/>
              </a:rPr>
              <a:t>&lt;&lt;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ui-monospace"/>
              </a:rPr>
              <a:t> 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F1FA8C"/>
                </a:solidFill>
                <a:effectLst/>
                <a:latin typeface="ui-monospace"/>
              </a:rPr>
              <a:t>"2: Chana + Paratha + Chai (350)"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ui-monospace"/>
              </a:rPr>
              <a:t> 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FF79C6"/>
                </a:solidFill>
                <a:effectLst/>
                <a:latin typeface="ui-monospace"/>
              </a:rPr>
              <a:t>&lt;&lt;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ui-monospace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7030A0"/>
                </a:solidFill>
                <a:effectLst/>
                <a:latin typeface="ui-monospace"/>
              </a:rPr>
              <a:t>endl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7030A0"/>
                </a:solidFill>
                <a:effectLst/>
                <a:latin typeface="ui-monospace"/>
              </a:rPr>
              <a:t>;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ui-monospace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FF79C6"/>
                </a:solidFill>
                <a:effectLst/>
                <a:latin typeface="ui-monospace"/>
              </a:rPr>
              <a:t>cout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ui-monospace"/>
              </a:rPr>
              <a:t> 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FF79C6"/>
                </a:solidFill>
                <a:effectLst/>
                <a:latin typeface="ui-monospace"/>
              </a:rPr>
              <a:t>&lt;&lt;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ui-monospace"/>
              </a:rPr>
              <a:t> 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F1FA8C"/>
                </a:solidFill>
                <a:effectLst/>
                <a:latin typeface="ui-monospace"/>
              </a:rPr>
              <a:t>"..."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ui-monospace"/>
              </a:rPr>
              <a:t> 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FF79C6"/>
                </a:solidFill>
                <a:effectLst/>
                <a:latin typeface="ui-monospace"/>
              </a:rPr>
              <a:t>&lt;&lt;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ui-monospace"/>
              </a:rPr>
              <a:t> </a:t>
            </a:r>
            <a:r>
              <a:rPr kumimoji="0" lang="en-US" altLang="en-US" sz="1300" b="0" i="0" u="none" strike="noStrike" cap="none" normalizeH="0" baseline="0" dirty="0" err="1" smtClean="0">
                <a:ln>
                  <a:noFill/>
                </a:ln>
                <a:solidFill>
                  <a:srgbClr val="7030A0"/>
                </a:solidFill>
                <a:effectLst/>
                <a:latin typeface="ui-monospace"/>
              </a:rPr>
              <a:t>endl</a:t>
            </a:r>
            <a:r>
              <a:rPr kumimoji="0" lang="en-US" altLang="en-US" sz="1300" b="0" i="0" u="none" strike="noStrike" cap="none" normalizeH="0" baseline="0" dirty="0" smtClean="0">
                <a:ln>
                  <a:noFill/>
                </a:ln>
                <a:solidFill>
                  <a:srgbClr val="7030A0"/>
                </a:solidFill>
                <a:effectLst/>
                <a:latin typeface="ui-monospace"/>
              </a:rPr>
              <a:t>;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rgbClr val="7030A0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rgbClr val="7030A0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2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584" y="114300"/>
            <a:ext cx="2971725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ource Code Pro"/>
              </a:rPr>
              <a:t>Sample Output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9584" y="809625"/>
            <a:ext cx="10972525" cy="5229225"/>
          </a:xfrm>
          <a:prstGeom prst="roundRect">
            <a:avLst>
              <a:gd name="adj" fmla="val 2914"/>
            </a:avLst>
          </a:prstGeom>
          <a:solidFill>
            <a:srgbClr val="0D1117"/>
          </a:solidFill>
          <a:ln w="825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19109" y="819149"/>
            <a:ext cx="10953476" cy="428625"/>
          </a:xfrm>
          <a:prstGeom prst="rect">
            <a:avLst/>
          </a:prstGeom>
          <a:solidFill>
            <a:srgbClr val="161B22"/>
          </a:solidFill>
          <a:ln w="8255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71505" y="971550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62000" y="971550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152496" y="971550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19189" y="933449"/>
            <a:ext cx="3362240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Source Code Pro"/>
              </a:rPr>
              <a:t>Restaurant Billing System - Console Output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01" y="1552574"/>
            <a:ext cx="10343891" cy="3809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8B949E"/>
                </a:solidFill>
                <a:latin typeface="Source Code Pro"/>
              </a:rPr>
              <a:t>How many items do you want to order? </a:t>
            </a:r>
            <a:r>
              <a:rPr sz="1315" b="0">
                <a:solidFill>
                  <a:srgbClr val="58A6FF"/>
                </a:solidFill>
                <a:latin typeface="Source Code Pro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01" y="1933574"/>
            <a:ext cx="10343891" cy="3809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8B949E"/>
                </a:solidFill>
                <a:latin typeface="Source Code Pro"/>
              </a:rPr>
              <a:t>Menu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01" y="2305049"/>
            <a:ext cx="10343891" cy="3809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8B949E"/>
                </a:solidFill>
                <a:latin typeface="Source Code Pro"/>
              </a:rPr>
              <a:t>1: Anda + Paratha + Chai (300)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901" y="2686050"/>
            <a:ext cx="10343891" cy="3809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8B949E"/>
                </a:solidFill>
                <a:latin typeface="Source Code Pro"/>
              </a:rPr>
              <a:t>2: Chana + Paratha + Chai (350)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01" y="3057525"/>
            <a:ext cx="10343891" cy="3809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8B949E"/>
                </a:solidFill>
                <a:latin typeface="Source Code Pro"/>
              </a:rPr>
              <a:t>3: Chai (80)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901" y="3438525"/>
            <a:ext cx="10343891" cy="3809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8B949E"/>
                </a:solidFill>
                <a:latin typeface="Source Code Pro"/>
              </a:rPr>
              <a:t>4: Beef Karahi (1800)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901" y="3819524"/>
            <a:ext cx="10343891" cy="3809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8B949E"/>
                </a:solidFill>
                <a:latin typeface="Source Code Pro"/>
              </a:rPr>
              <a:t>5: Chicken Karahi (1200)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901" y="4190999"/>
            <a:ext cx="10343891" cy="3809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8B949E"/>
                </a:solidFill>
                <a:latin typeface="Source Code Pro"/>
              </a:rPr>
              <a:t>6: Cold Drink (80)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901" y="4572000"/>
            <a:ext cx="10343891" cy="3809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8B949E"/>
                </a:solidFill>
                <a:latin typeface="Source Code Pro"/>
              </a:rPr>
              <a:t>7: Roti (10)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901" y="4943475"/>
            <a:ext cx="10343891" cy="3809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8B949E"/>
                </a:solidFill>
                <a:latin typeface="Source Code Pro"/>
              </a:rPr>
              <a:t>8: Naan (20)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901" y="5324474"/>
            <a:ext cx="10343891" cy="3809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8B949E"/>
                </a:solidFill>
                <a:latin typeface="Source Code Pro"/>
              </a:rPr>
              <a:t>Enter item number 1: </a:t>
            </a:r>
            <a:r>
              <a:rPr sz="1315" b="0">
                <a:solidFill>
                  <a:srgbClr val="58A6FF"/>
                </a:solidFill>
                <a:latin typeface="Source Code Pro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901" y="5705475"/>
            <a:ext cx="10343891" cy="3809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8B949E"/>
                </a:solidFill>
                <a:latin typeface="Source Code Pro"/>
              </a:rPr>
              <a:t>Enter item number 2: </a:t>
            </a:r>
            <a:r>
              <a:rPr sz="1315" b="0">
                <a:solidFill>
                  <a:srgbClr val="58A6FF"/>
                </a:solidFill>
                <a:latin typeface="Source Code Pro"/>
              </a:rP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62280" y="6343650"/>
            <a:ext cx="4657608" cy="514350"/>
          </a:xfrm>
          <a:prstGeom prst="roundRect">
            <a:avLst>
              <a:gd name="adj" fmla="val 29629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990875" y="6503669"/>
            <a:ext cx="228594" cy="194309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333766" y="6457950"/>
            <a:ext cx="3857528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1D5DB"/>
                </a:solidFill>
                <a:latin typeface="Roboto Flex"/>
              </a:rPr>
              <a:t>Example: 2 items × 350 + 1200 + 10 = </a:t>
            </a:r>
            <a:r>
              <a:rPr sz="1196" b="1">
                <a:solidFill>
                  <a:srgbClr val="37DCF2"/>
                </a:solidFill>
                <a:latin typeface="Roboto Flex"/>
              </a:rPr>
              <a:t>1560 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2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584" y="114300"/>
            <a:ext cx="4343291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ource Code Pro"/>
              </a:rPr>
              <a:t>Future Improvements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9584" y="1257300"/>
            <a:ext cx="5333866" cy="1190625"/>
          </a:xfrm>
          <a:prstGeom prst="roundRect">
            <a:avLst>
              <a:gd name="adj" fmla="val 12800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 Same Side Corner Rectangle 3"/>
          <p:cNvSpPr/>
          <p:nvPr/>
        </p:nvSpPr>
        <p:spPr>
          <a:xfrm rot="16200000">
            <a:off x="80312" y="1786572"/>
            <a:ext cx="11906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6278" y="1553854"/>
            <a:ext cx="400039" cy="34034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6813" y="1485900"/>
            <a:ext cx="3105072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520"/>
              </a:spcAft>
            </a:pPr>
            <a:r>
              <a:rPr sz="1554" b="1">
                <a:solidFill>
                  <a:srgbClr val="FFFFFF"/>
                </a:solidFill>
                <a:latin typeface="Roboto Flex"/>
              </a:rPr>
              <a:t>Expand Menu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6813" y="1933574"/>
            <a:ext cx="3105072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9CA3AF"/>
                </a:solidFill>
                <a:latin typeface="Roboto Flex"/>
              </a:rPr>
              <a:t>Add more food and beverage options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8243" y="1257300"/>
            <a:ext cx="5333866" cy="1190625"/>
          </a:xfrm>
          <a:prstGeom prst="roundRect">
            <a:avLst>
              <a:gd name="adj" fmla="val 12800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5718971" y="1786572"/>
            <a:ext cx="11906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14937" y="1553854"/>
            <a:ext cx="400039" cy="34034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105472" y="1485900"/>
            <a:ext cx="3390815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520"/>
              </a:spcAft>
            </a:pPr>
            <a:r>
              <a:rPr sz="1554" b="1">
                <a:solidFill>
                  <a:srgbClr val="FFFFFF"/>
                </a:solidFill>
                <a:latin typeface="Roboto Flex"/>
              </a:rPr>
              <a:t>Discount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05472" y="1933574"/>
            <a:ext cx="3390815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9CA3AF"/>
                </a:solidFill>
                <a:latin typeface="Roboto Flex"/>
              </a:rPr>
              <a:t>Implement promotions and loyalty offers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584" y="2752725"/>
            <a:ext cx="5333866" cy="1190625"/>
          </a:xfrm>
          <a:prstGeom prst="roundRect">
            <a:avLst>
              <a:gd name="adj" fmla="val 12800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 Same Side Corner Rectangle 13"/>
          <p:cNvSpPr/>
          <p:nvPr/>
        </p:nvSpPr>
        <p:spPr>
          <a:xfrm rot="16200000">
            <a:off x="80312" y="3281997"/>
            <a:ext cx="11906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76278" y="3079133"/>
            <a:ext cx="400039" cy="28063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466813" y="2981325"/>
            <a:ext cx="2943151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520"/>
              </a:spcAft>
            </a:pPr>
            <a:r>
              <a:rPr sz="1554" b="1">
                <a:solidFill>
                  <a:srgbClr val="FFFFFF"/>
                </a:solidFill>
                <a:latin typeface="Roboto Flex"/>
              </a:rPr>
              <a:t>Payment Processing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6813" y="3429000"/>
            <a:ext cx="2943151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9CA3AF"/>
                </a:solidFill>
                <a:latin typeface="Roboto Flex"/>
              </a:rPr>
              <a:t>Integrate digital payment gateways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8243" y="2752725"/>
            <a:ext cx="5333866" cy="1190625"/>
          </a:xfrm>
          <a:prstGeom prst="roundRect">
            <a:avLst>
              <a:gd name="adj" fmla="val 12800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 Same Side Corner Rectangle 18"/>
          <p:cNvSpPr/>
          <p:nvPr/>
        </p:nvSpPr>
        <p:spPr>
          <a:xfrm rot="16200000">
            <a:off x="5718971" y="3281997"/>
            <a:ext cx="11906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14937" y="3064206"/>
            <a:ext cx="400039" cy="31048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105472" y="2981325"/>
            <a:ext cx="3028874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520"/>
              </a:spcAft>
            </a:pPr>
            <a:r>
              <a:rPr sz="1554" b="1">
                <a:solidFill>
                  <a:srgbClr val="FFFFFF"/>
                </a:solidFill>
                <a:latin typeface="Roboto Flex"/>
              </a:rPr>
              <a:t>Order History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05472" y="3429000"/>
            <a:ext cx="3028874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9CA3AF"/>
                </a:solidFill>
                <a:latin typeface="Roboto Flex"/>
              </a:rPr>
              <a:t>Save and retrieve past order records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9584" y="4248150"/>
            <a:ext cx="5333866" cy="1190625"/>
          </a:xfrm>
          <a:prstGeom prst="roundRect">
            <a:avLst>
              <a:gd name="adj" fmla="val 12800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 Same Side Corner Rectangle 23"/>
          <p:cNvSpPr/>
          <p:nvPr/>
        </p:nvSpPr>
        <p:spPr>
          <a:xfrm rot="16200000">
            <a:off x="80312" y="4777422"/>
            <a:ext cx="11906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76278" y="4574558"/>
            <a:ext cx="400039" cy="28063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466813" y="4476750"/>
            <a:ext cx="2390715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520"/>
              </a:spcAft>
            </a:pPr>
            <a:r>
              <a:rPr sz="1554" b="1">
                <a:solidFill>
                  <a:srgbClr val="FFFFFF"/>
                </a:solidFill>
                <a:latin typeface="Roboto Flex"/>
              </a:rPr>
              <a:t>Quantity Support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6813" y="4924424"/>
            <a:ext cx="2390715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9CA3AF"/>
                </a:solidFill>
                <a:latin typeface="Roboto Flex"/>
              </a:rPr>
              <a:t>Allow multiple units per item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48243" y="4248150"/>
            <a:ext cx="5333866" cy="1190625"/>
          </a:xfrm>
          <a:prstGeom prst="roundRect">
            <a:avLst>
              <a:gd name="adj" fmla="val 12800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 Same Side Corner Rectangle 28"/>
          <p:cNvSpPr/>
          <p:nvPr/>
        </p:nvSpPr>
        <p:spPr>
          <a:xfrm rot="16200000">
            <a:off x="5718971" y="4777422"/>
            <a:ext cx="11906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514937" y="4544704"/>
            <a:ext cx="400039" cy="340341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105472" y="4476750"/>
            <a:ext cx="2705032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520"/>
              </a:spcAft>
            </a:pPr>
            <a:r>
              <a:rPr sz="1554" b="1">
                <a:solidFill>
                  <a:srgbClr val="FFFFFF"/>
                </a:solidFill>
                <a:latin typeface="Roboto Flex"/>
              </a:rPr>
              <a:t>GUI Interface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05472" y="4924424"/>
            <a:ext cx="2705032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9CA3AF"/>
                </a:solidFill>
                <a:latin typeface="Roboto Flex"/>
              </a:rPr>
              <a:t>Develop graphical user interface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514537" y="5895974"/>
            <a:ext cx="7162620" cy="514350"/>
          </a:xfrm>
          <a:prstGeom prst="roundRect">
            <a:avLst>
              <a:gd name="adj" fmla="val 29629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743131" y="6055994"/>
            <a:ext cx="228594" cy="194309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3086022" y="6010274"/>
            <a:ext cx="6362540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1D5DB"/>
                </a:solidFill>
                <a:latin typeface="Roboto Flex"/>
              </a:rPr>
              <a:t>These enhancements would make the system more robust and user-friendly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2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62980" y="-6266"/>
            <a:ext cx="1904952" cy="96503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85742" y="5933367"/>
            <a:ext cx="1428714" cy="992014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52956" y="874258"/>
            <a:ext cx="685782" cy="57558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781330" y="1809749"/>
            <a:ext cx="4619509" cy="9144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6240"/>
              </a:lnSpc>
              <a:spcBef>
                <a:spcPts val="0"/>
              </a:spcBef>
              <a:spcAft>
                <a:spcPts val="1560"/>
              </a:spcAft>
            </a:pPr>
            <a:r>
              <a:rPr sz="3827" b="1">
                <a:solidFill>
                  <a:srgbClr val="FFFFFF"/>
                </a:solidFill>
                <a:latin typeface="Source Code Pro"/>
              </a:rPr>
              <a:t>Thank You!</a:t>
            </a:r>
          </a:p>
        </p:txBody>
      </p:sp>
      <p:sp>
        <p:nvSpPr>
          <p:cNvPr id="7" name="Rectangle 6"/>
          <p:cNvSpPr/>
          <p:nvPr/>
        </p:nvSpPr>
        <p:spPr>
          <a:xfrm>
            <a:off x="5524361" y="2952750"/>
            <a:ext cx="1142971" cy="381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37DCF2"/>
              </a:gs>
              <a:gs pos="100000">
                <a:srgbClr val="000000">
                  <a:alpha val="0"/>
                </a:srgbClr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781330" y="3295650"/>
            <a:ext cx="4619509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730"/>
              </a:lnSpc>
              <a:spcBef>
                <a:spcPts val="0"/>
              </a:spcBef>
              <a:spcAft>
                <a:spcPts val="3120"/>
              </a:spcAft>
            </a:pPr>
            <a:r>
              <a:rPr sz="1554" b="0">
                <a:solidFill>
                  <a:srgbClr val="D1D5DB"/>
                </a:solidFill>
                <a:latin typeface="Roboto Flex"/>
              </a:rPr>
              <a:t>A Simple yet Effective Billing System in C++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4261" y="4314825"/>
            <a:ext cx="3133646" cy="1009649"/>
          </a:xfrm>
          <a:prstGeom prst="roundRect">
            <a:avLst>
              <a:gd name="adj" fmla="val 15094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38579" y="4690696"/>
            <a:ext cx="304792" cy="25790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295767" y="4514850"/>
            <a:ext cx="2047823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  <a:latin typeface="Roboto Flex"/>
              </a:rPr>
              <a:t>Questions &amp; Answers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95767" y="4867274"/>
            <a:ext cx="2047823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260"/>
              </a:spcBef>
              <a:spcAft>
                <a:spcPts val="0"/>
              </a:spcAft>
            </a:pPr>
            <a:r>
              <a:rPr sz="1076" b="0">
                <a:solidFill>
                  <a:srgbClr val="9CA3AF"/>
                </a:solidFill>
                <a:latin typeface="Roboto Flex"/>
              </a:rPr>
              <a:t>Feel free to ask anything!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57568" y="5824257"/>
            <a:ext cx="190495" cy="16248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62360" y="5781674"/>
            <a:ext cx="3381290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6B7280"/>
                </a:solidFill>
                <a:latin typeface="Roboto Flex"/>
              </a:rPr>
              <a:t>Built with C++ for efficiency and performance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449</Words>
  <Application>Microsoft Office PowerPoint</Application>
  <PresentationFormat>Widescreen</PresentationFormat>
  <Paragraphs>97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Roboto Flex</vt:lpstr>
      <vt:lpstr>Source Code Pro</vt:lpstr>
      <vt:lpstr>ui-monospace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SYED HAMMAD HASSAN</dc:creator>
  <cp:keywords/>
  <dc:description>generated using python-pptx</dc:description>
  <cp:lastModifiedBy>Nasir</cp:lastModifiedBy>
  <cp:revision>3</cp:revision>
  <dcterms:created xsi:type="dcterms:W3CDTF">2013-01-27T09:14:16Z</dcterms:created>
  <dcterms:modified xsi:type="dcterms:W3CDTF">2026-01-08T11:35:12Z</dcterms:modified>
  <cp:category/>
</cp:coreProperties>
</file>